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2F6FED"/>
            </a:solidFill>
            <a:ln w="31750" cap="flat">
              <a:solidFill>
                <a:srgbClr val="2F6F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6FED"/>
              </a:solidFill>
              <a:ln w="9525" cap="flat">
                <a:solidFill>
                  <a:srgbClr val="2F6F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2016-10</c:v>
                  </c:pt>
                  <c:pt idx="1">
                    <c:v>2016-11</c:v>
                  </c:pt>
                  <c:pt idx="2">
                    <c:v>2016-12</c:v>
                  </c:pt>
                  <c:pt idx="3">
                    <c:v>2017-01</c:v>
                  </c:pt>
                  <c:pt idx="4">
                    <c:v>2017-02</c:v>
                  </c:pt>
                  <c:pt idx="5">
                    <c:v>2017-03</c:v>
                  </c:pt>
                  <c:pt idx="6">
                    <c:v>2017-04</c:v>
                  </c:pt>
                  <c:pt idx="7">
                    <c:v>2017-05</c:v>
                  </c:pt>
                  <c:pt idx="8">
                    <c:v>2017-06</c:v>
                  </c:pt>
                  <c:pt idx="9">
                    <c:v>2017-07</c:v>
                  </c:pt>
                  <c:pt idx="10">
                    <c:v>2017-08</c:v>
                  </c:pt>
                  <c:pt idx="11">
                    <c:v>2017-09</c:v>
                  </c:pt>
                  <c:pt idx="12">
                    <c:v>2017-10</c:v>
                  </c:pt>
                  <c:pt idx="13">
                    <c:v>2017-11</c:v>
                  </c:pt>
                  <c:pt idx="14">
                    <c:v>2017-12</c:v>
                  </c:pt>
                  <c:pt idx="15">
                    <c:v>2018-01</c:v>
                  </c:pt>
                  <c:pt idx="16">
                    <c:v>2018-02</c:v>
                  </c:pt>
                  <c:pt idx="17">
                    <c:v>2018-03</c:v>
                  </c:pt>
                  <c:pt idx="18">
                    <c:v>2018-04</c:v>
                  </c:pt>
                  <c:pt idx="19">
                    <c:v>2018-05</c:v>
                  </c:pt>
                  <c:pt idx="20">
                    <c:v>2018-06</c:v>
                  </c:pt>
                  <c:pt idx="21">
                    <c:v>2018-07</c:v>
                  </c:pt>
                  <c:pt idx="22">
                    <c:v>2018-08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43000</c:v>
                </c:pt>
                <c:pt idx="1">
                  <c:v>105000</c:v>
                </c:pt>
                <c:pt idx="2">
                  <c:v>253000</c:v>
                </c:pt>
                <c:pt idx="3">
                  <c:v>390000</c:v>
                </c:pt>
                <c:pt idx="4">
                  <c:v>362000</c:v>
                </c:pt>
                <c:pt idx="5">
                  <c:v>535000</c:v>
                </c:pt>
                <c:pt idx="6">
                  <c:v>453000</c:v>
                </c:pt>
                <c:pt idx="7">
                  <c:v>526000</c:v>
                </c:pt>
                <c:pt idx="8">
                  <c:v>607000</c:v>
                </c:pt>
                <c:pt idx="9">
                  <c:v>635000</c:v>
                </c:pt>
                <c:pt idx="10">
                  <c:v>680000</c:v>
                </c:pt>
                <c:pt idx="11">
                  <c:v>707000</c:v>
                </c:pt>
                <c:pt idx="12">
                  <c:v>635000</c:v>
                </c:pt>
                <c:pt idx="13">
                  <c:v>1027013</c:v>
                </c:pt>
                <c:pt idx="14">
                  <c:v>780000</c:v>
                </c:pt>
                <c:pt idx="15">
                  <c:v>952000</c:v>
                </c:pt>
                <c:pt idx="16">
                  <c:v>861000</c:v>
                </c:pt>
                <c:pt idx="17">
                  <c:v>1015000</c:v>
                </c:pt>
                <c:pt idx="18">
                  <c:v>1042000</c:v>
                </c:pt>
                <c:pt idx="19">
                  <c:v>1061000</c:v>
                </c:pt>
                <c:pt idx="20">
                  <c:v>1033000</c:v>
                </c:pt>
                <c:pt idx="21">
                  <c:v>1038514</c:v>
                </c:pt>
                <c:pt idx="22">
                  <c:v>996974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 growth %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2F6FED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2017-02</c:v>
                  </c:pt>
                  <c:pt idx="2">
                    <c:v>2017-03</c:v>
                  </c:pt>
                  <c:pt idx="3">
                    <c:v>2017-04</c:v>
                  </c:pt>
                  <c:pt idx="4">
                    <c:v>2017-05</c:v>
                  </c:pt>
                  <c:pt idx="5">
                    <c:v>2017-06</c:v>
                  </c:pt>
                  <c:pt idx="6">
                    <c:v>2017-07</c:v>
                  </c:pt>
                  <c:pt idx="7">
                    <c:v>2017-08</c:v>
                  </c:pt>
                  <c:pt idx="8">
                    <c:v>2017-09</c:v>
                  </c:pt>
                  <c:pt idx="9">
                    <c:v>2017-10</c:v>
                  </c:pt>
                  <c:pt idx="10">
                    <c:v>2017-11</c:v>
                  </c:pt>
                  <c:pt idx="11">
                    <c:v>2017-12</c:v>
                  </c:pt>
                  <c:pt idx="12">
                    <c:v>2018-01</c:v>
                  </c:pt>
                  <c:pt idx="13">
                    <c:v>2018-02</c:v>
                  </c:pt>
                  <c:pt idx="14">
                    <c:v>2018-03</c:v>
                  </c:pt>
                  <c:pt idx="15">
                    <c:v>2018-04</c:v>
                  </c:pt>
                  <c:pt idx="16">
                    <c:v>2018-05</c:v>
                  </c:pt>
                  <c:pt idx="17">
                    <c:v>2018-06</c:v>
                  </c:pt>
                  <c:pt idx="18">
                    <c:v>2018-07</c:v>
                  </c:pt>
                  <c:pt idx="19">
                    <c:v>2018-08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54.15</c:v>
                </c:pt>
                <c:pt idx="1">
                  <c:v>-7.18</c:v>
                </c:pt>
                <c:pt idx="2">
                  <c:v>47.79</c:v>
                </c:pt>
                <c:pt idx="3">
                  <c:v>-15.33</c:v>
                </c:pt>
                <c:pt idx="4">
                  <c:v>16.11</c:v>
                </c:pt>
                <c:pt idx="5">
                  <c:v>15.4</c:v>
                </c:pt>
                <c:pt idx="6">
                  <c:v>4.61</c:v>
                </c:pt>
                <c:pt idx="7">
                  <c:v>7.09</c:v>
                </c:pt>
                <c:pt idx="8">
                  <c:v>3.97</c:v>
                </c:pt>
                <c:pt idx="9">
                  <c:v>-10.18</c:v>
                </c:pt>
                <c:pt idx="10">
                  <c:v>61.73</c:v>
                </c:pt>
                <c:pt idx="11">
                  <c:v>-24.05</c:v>
                </c:pt>
                <c:pt idx="12">
                  <c:v>22.05</c:v>
                </c:pt>
                <c:pt idx="13">
                  <c:v>-9.56</c:v>
                </c:pt>
                <c:pt idx="14">
                  <c:v>17.89</c:v>
                </c:pt>
                <c:pt idx="15">
                  <c:v>2.66</c:v>
                </c:pt>
                <c:pt idx="16">
                  <c:v>1.82</c:v>
                </c:pt>
                <c:pt idx="17">
                  <c:v>-2.64</c:v>
                </c:pt>
                <c:pt idx="18">
                  <c:v>0.53</c:v>
                </c:pt>
                <c:pt idx="19">
                  <c:v>-4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question. This is a revenue-only analysis: the source data has no order-level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15,737,501 total across 23 months. Peak May-2018 at 1,061,000. Longest run of consecutive MoM-negative months is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Nov-2017 revenue 1,027,013; Dec-2017 MoM -24.05%; Jan-2018 recovered +22.05%.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starts at Jan-2017 to keep the 2016 ramp months (+144%, +141%) from dominating the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in docs/assumptions.md. No order counts or AOV were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with evidence: analysis/business_recommendations.md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growing, and how fast? Where should we look closer?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Growth &amp; Performance Intelligence  |  Oct 2016 - Aug 2018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months of revenue, one clear shape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15,737,501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Oct-2016 to Aug-2018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1,061,000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May-2018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decline streak in the series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phase through Nov-2017, plateau since roughly Apr-2018. No sustained decline anywhere in the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ramp, then a plateau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46304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month: May-2018 (1,061,000)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Nov-2017 spike (1,027,013) followed by the sharpest pullback in the series (Dec-2017, -24.05%)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spike and its reversion, not a new baseline. The data cannot say what drove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recent dip a problem?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Aug-2018 was -4.00% MoM, but it was a single month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46304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was +0.53%, so August is a 1-month streak, not a trend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has never shown 2+ consecutive declining months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months vs prior 3 months: -1.59% (1,022,829 vs 1,039,333 avg), within normal volatility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answer yet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plateau is about order volume, order value, or something else entirely. The source data has no order-level fields, so orders and AOV could not be computed.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this gap is the biggest next step.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tied to a finding in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Rolling-average + streak view instead of single-month headlines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3911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Nov-2017 spike to determine whether it is repeatable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66090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2+ consecutive decline months (not yet triggered)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826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order-level data to unlock the volume-vs-value question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411480" cy="4114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against a second revenue source before finance sign-off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Intelligence</dc:title>
  <dc:subject>PptxGenJS Presentation</dc:subject>
  <dc:creator>PptxGenJS</dc:creator>
  <cp:lastModifiedBy>PptxGenJS</cp:lastModifiedBy>
  <cp:revision>1</cp:revision>
  <dcterms:created xsi:type="dcterms:W3CDTF">2026-10-04T17:02:15Z</dcterms:created>
  <dcterms:modified xsi:type="dcterms:W3CDTF">2026-10-04T17:02:15Z</dcterms:modified>
</cp:coreProperties>
</file>